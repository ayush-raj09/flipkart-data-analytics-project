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8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 panose="020B0604020202020204"/>
              </a:rPr>
              <a:t>Customer Base by Segment</a:t>
            </a:r>
            <a:endParaRPr sz="1800" b="0" i="0" u="none" strike="noStrike">
              <a:solidFill>
                <a:srgbClr val="000000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Segments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22C55E"/>
              </a:solidFill>
              <a:effectLst/>
            </c:spPr>
          </c:dPt>
          <c:dPt>
            <c:idx val="1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bubble3D val="0"/>
            <c:spPr>
              <a:solidFill>
                <a:srgbClr val="E8A020"/>
              </a:solidFill>
              <a:effectLst/>
            </c:spPr>
          </c:dPt>
          <c:dPt>
            <c:idx val="3"/>
            <c:bubble3D val="0"/>
            <c:spPr>
              <a:solidFill>
                <a:srgbClr val="F5C65D"/>
              </a:solidFill>
              <a:effectLst/>
            </c:spPr>
          </c:dPt>
          <c:dPt>
            <c:idx val="4"/>
            <c:bubble3D val="0"/>
            <c:spPr>
              <a:solidFill>
                <a:srgbClr val="E53E3E"/>
              </a:solidFill>
              <a:effectLst/>
            </c:spPr>
          </c:dPt>
          <c:dLbls>
            <c:dLbl>
              <c:idx val="0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0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0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0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0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0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8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Champions</c:v>
                </c:pt>
                <c:pt idx="1">
                  <c:v>Loyal</c:v>
                </c:pt>
                <c:pt idx="2">
                  <c:v>New Buyers</c:v>
                </c:pt>
                <c:pt idx="3">
                  <c:v>At-Risk</c:v>
                </c:pt>
                <c:pt idx="4">
                  <c:v>Churned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</c:v>
                </c:pt>
                <c:pt idx="1">
                  <c:v>18</c:v>
                </c:pt>
                <c:pt idx="2">
                  <c:v>15</c:v>
                </c:pt>
                <c:pt idx="3">
                  <c:v>25</c:v>
                </c:pt>
                <c:pt idx="4">
                  <c:v>30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0f014ebf-23c7-47bb-aedb-d6559d561a52}"/>
      </c:ext>
    </c:extLst>
  </c:chart>
  <c:spPr>
    <a:solidFill>
      <a:srgbClr val="F4F6FA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3" Type="http://schemas.openxmlformats.org/officeDocument/2006/relationships/hyperlink" Target="https://www.linkedin.com/in/ayushraj09/" TargetMode="External"/><Relationship Id="rId4" Type="http://schemas.openxmlformats.org/officeDocument/2006/relationships/hyperlink" Target="https://github.com/Ayush-Raj09" TargetMode="External"/><Relationship Id="rId5" Type="http://schemas.openxmlformats.org/officeDocument/2006/relationships/hyperlink" Target="mailto:ayushraj.work9@gmail.com" TargetMode="Externa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0"/>
            <a:ext cx="2194560" cy="5143500"/>
          </a:xfrm>
          <a:prstGeom prst="rect">
            <a:avLst/>
          </a:prstGeom>
          <a:solidFill>
            <a:srgbClr val="1A2B45"/>
          </a:solidFill>
        </p:spPr>
      </p:sp>
      <p:sp>
        <p:nvSpPr>
          <p:cNvPr id="3" name="Shape 1"/>
          <p:cNvSpPr/>
          <p:nvPr/>
        </p:nvSpPr>
        <p:spPr>
          <a:xfrm>
            <a:off x="6949440" y="0"/>
            <a:ext cx="64008" cy="5143500"/>
          </a:xfrm>
          <a:prstGeom prst="rect">
            <a:avLst/>
          </a:prstGeom>
          <a:solidFill>
            <a:srgbClr val="E8A020"/>
          </a:solidFill>
        </p:spPr>
      </p:sp>
      <p:sp>
        <p:nvSpPr>
          <p:cNvPr id="4" name="Text 2"/>
          <p:cNvSpPr/>
          <p:nvPr/>
        </p:nvSpPr>
        <p:spPr>
          <a:xfrm>
            <a:off x="502920" y="685800"/>
            <a:ext cx="63093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kern="0" spc="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FLIPKART SALES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63093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kern="0" spc="300" dirty="0">
                <a:solidFill>
                  <a:srgbClr val="E8A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INTELLIGENCE PROJECT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502920" y="2121408"/>
            <a:ext cx="3200400" cy="36576"/>
          </a:xfrm>
          <a:prstGeom prst="rect">
            <a:avLst/>
          </a:prstGeom>
          <a:solidFill>
            <a:srgbClr val="E8A020"/>
          </a:solidFill>
        </p:spPr>
      </p:sp>
      <p:sp>
        <p:nvSpPr>
          <p:cNvPr id="7" name="Text 5"/>
          <p:cNvSpPr/>
          <p:nvPr/>
        </p:nvSpPr>
        <p:spPr>
          <a:xfrm>
            <a:off x="502920" y="2249424"/>
            <a:ext cx="6309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End-to-End Data Analytics Project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578608"/>
            <a:ext cx="6309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C65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 Dataset  |  Kaggle Source  |  Excel + Power BI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999232"/>
            <a:ext cx="635508" cy="274320"/>
          </a:xfrm>
          <a:prstGeom prst="rect">
            <a:avLst/>
          </a:prstGeom>
          <a:solidFill>
            <a:srgbClr val="1F3A6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3026664"/>
            <a:ext cx="5257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C65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EDA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303020" y="2999232"/>
            <a:ext cx="1581912" cy="274320"/>
          </a:xfrm>
          <a:prstGeom prst="rect">
            <a:avLst/>
          </a:prstGeom>
          <a:solidFill>
            <a:srgbClr val="1F3A6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12748" y="3026664"/>
            <a:ext cx="1472184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C65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RFM Analysis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049524" y="2999232"/>
            <a:ext cx="2528316" cy="274320"/>
          </a:xfrm>
          <a:prstGeom prst="rect">
            <a:avLst/>
          </a:prstGeom>
          <a:solidFill>
            <a:srgbClr val="1F3A6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59252" y="3026664"/>
            <a:ext cx="241858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C65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Segmentation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742305" y="2998470"/>
            <a:ext cx="1851025" cy="274955"/>
          </a:xfrm>
          <a:prstGeom prst="rect">
            <a:avLst/>
          </a:prstGeom>
          <a:solidFill>
            <a:srgbClr val="1F3A6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0" y="2999105"/>
            <a:ext cx="1697990" cy="247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C65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Power BI Dashboard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4617720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 xml:space="preserve">Prepared by  </a:t>
            </a:r>
            <a:r>
              <a:rPr lang="en-US" sz="950" b="1" dirty="0">
                <a:solidFill>
                  <a:srgbClr val="E8A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Ayush Raj</a:t>
            </a: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 xml:space="preserve">  |  </a:t>
            </a: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hlinkClick r:id="rId5"/>
              </a:rPr>
              <a:t>ayushraj.work9@gmail.com</a:t>
            </a: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 xml:space="preserve">  |  </a:t>
            </a:r>
            <a:r>
              <a:rPr lang="en-US" sz="950" b="1" dirty="0">
                <a:solidFill>
                  <a:srgbClr val="0A66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hlinkClick r:id="rId3"/>
              </a:rPr>
              <a:t>LinkedIn</a:t>
            </a: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 xml:space="preserve">  |  </a:t>
            </a:r>
            <a:r>
              <a:rPr lang="en-US" sz="950" b="1" dirty="0">
                <a:solidFill>
                  <a:srgbClr val="17151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hlinkClick r:id="rId4"/>
              </a:rPr>
              <a:t>GitHub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040880" y="502920"/>
            <a:ext cx="20116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A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20K+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040880" y="1069848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Records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040880" y="1645920"/>
            <a:ext cx="20116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A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040880" y="2212848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Slides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040880" y="2788920"/>
            <a:ext cx="20116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A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Excel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040880" y="3355848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 Power BI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040880" y="3931920"/>
            <a:ext cx="20116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A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₹45L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7040880" y="4498848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Value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15568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" name="Text 1"/>
          <p:cNvSpPr/>
          <p:nvPr/>
        </p:nvSpPr>
        <p:spPr>
          <a:xfrm>
            <a:off x="411480" y="109728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676656"/>
            <a:ext cx="7772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5C65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this analysis matters for a ₹8 Lakh Crore industry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1115568"/>
            <a:ext cx="9144000" cy="36576"/>
          </a:xfrm>
          <a:prstGeom prst="rect">
            <a:avLst/>
          </a:prstGeom>
          <a:solidFill>
            <a:srgbClr val="E8A020"/>
          </a:solidFill>
        </p:spPr>
      </p:sp>
      <p:sp>
        <p:nvSpPr>
          <p:cNvPr id="6" name="Shape 4"/>
          <p:cNvSpPr/>
          <p:nvPr/>
        </p:nvSpPr>
        <p:spPr>
          <a:xfrm>
            <a:off x="411480" y="1234440"/>
            <a:ext cx="8321040" cy="749808"/>
          </a:xfrm>
          <a:prstGeom prst="rect">
            <a:avLst/>
          </a:prstGeom>
          <a:solidFill>
            <a:srgbClr val="1F3A60"/>
          </a:solidFill>
        </p:spPr>
      </p:sp>
      <p:sp>
        <p:nvSpPr>
          <p:cNvPr id="7" name="Text 5"/>
          <p:cNvSpPr/>
          <p:nvPr/>
        </p:nvSpPr>
        <p:spPr>
          <a:xfrm>
            <a:off x="594360" y="1271016"/>
            <a:ext cx="795528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F5C65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"Which products drive profit?  Which customers are about to leave?  Where is the business bleeding revenue?"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11480" y="2148840"/>
            <a:ext cx="4114800" cy="1078992"/>
          </a:xfrm>
          <a:prstGeom prst="rect">
            <a:avLst/>
          </a:prstGeom>
          <a:solidFill>
            <a:srgbClr val="FFFFFF"/>
          </a:solidFill>
          <a:effectLst>
            <a:outerShdw blurRad="1016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2148840"/>
            <a:ext cx="4114800" cy="64008"/>
          </a:xfrm>
          <a:prstGeom prst="rect">
            <a:avLst/>
          </a:prstGeom>
          <a:solidFill>
            <a:srgbClr val="E53E3E"/>
          </a:solidFill>
        </p:spPr>
      </p:sp>
      <p:sp>
        <p:nvSpPr>
          <p:cNvPr id="10" name="Text 8"/>
          <p:cNvSpPr/>
          <p:nvPr/>
        </p:nvSpPr>
        <p:spPr>
          <a:xfrm>
            <a:off x="576072" y="2276856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Revenue Leakage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76072" y="2606040"/>
            <a:ext cx="3749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visibility into which categories drain margin vs generate profit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9160" y="2148840"/>
            <a:ext cx="4114800" cy="1078992"/>
          </a:xfrm>
          <a:prstGeom prst="rect">
            <a:avLst/>
          </a:prstGeom>
          <a:solidFill>
            <a:srgbClr val="FFFFFF"/>
          </a:solidFill>
          <a:effectLst>
            <a:outerShdw blurRad="1016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2148840"/>
            <a:ext cx="4114800" cy="64008"/>
          </a:xfrm>
          <a:prstGeom prst="rect">
            <a:avLst/>
          </a:prstGeom>
          <a:solidFill>
            <a:srgbClr val="E8A020"/>
          </a:solidFill>
        </p:spPr>
      </p:sp>
      <p:sp>
        <p:nvSpPr>
          <p:cNvPr id="14" name="Text 12"/>
          <p:cNvSpPr/>
          <p:nvPr/>
        </p:nvSpPr>
        <p:spPr>
          <a:xfrm>
            <a:off x="4873752" y="2276856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Churn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73752" y="2606040"/>
            <a:ext cx="3749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25–40% customers buy once &amp; vanish — invisible without RFM scoring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3401568"/>
            <a:ext cx="4114800" cy="1078992"/>
          </a:xfrm>
          <a:prstGeom prst="rect">
            <a:avLst/>
          </a:prstGeom>
          <a:solidFill>
            <a:srgbClr val="FFFFFF"/>
          </a:solidFill>
          <a:effectLst>
            <a:outerShdw blurRad="1016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3401568"/>
            <a:ext cx="4114800" cy="64008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8" name="Text 16"/>
          <p:cNvSpPr/>
          <p:nvPr/>
        </p:nvSpPr>
        <p:spPr>
          <a:xfrm>
            <a:off x="576072" y="3529584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Inventory Blindspots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76072" y="3858768"/>
            <a:ext cx="3749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Overstocking slow movers &amp; understocking top sellers costs ₹Cr/month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3401568"/>
            <a:ext cx="4114800" cy="1078992"/>
          </a:xfrm>
          <a:prstGeom prst="rect">
            <a:avLst/>
          </a:prstGeom>
          <a:solidFill>
            <a:srgbClr val="FFFFFF"/>
          </a:solidFill>
          <a:effectLst>
            <a:outerShdw blurRad="1016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3401568"/>
            <a:ext cx="4114800" cy="64008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22" name="Text 20"/>
          <p:cNvSpPr/>
          <p:nvPr/>
        </p:nvSpPr>
        <p:spPr>
          <a:xfrm>
            <a:off x="4873752" y="3529584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Regional Imbalance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873752" y="3858768"/>
            <a:ext cx="3749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Metros over-indexed while Tier-2/3 city growth opportunities ignored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" y="4645152"/>
            <a:ext cx="8321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F3A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Goal: Convert raw transaction data into decisions that grow revenue, retain customers, and cut waste.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15568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" name="Text 1"/>
          <p:cNvSpPr/>
          <p:nvPr/>
        </p:nvSpPr>
        <p:spPr>
          <a:xfrm>
            <a:off x="411480" y="109728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 Overview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676656"/>
            <a:ext cx="7772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5C65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Flipkart Products Dataset · Kaggle · 20,000+ real records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1115568"/>
            <a:ext cx="9144000" cy="36576"/>
          </a:xfrm>
          <a:prstGeom prst="rect">
            <a:avLst/>
          </a:prstGeom>
          <a:solidFill>
            <a:srgbClr val="E8A020"/>
          </a:solidFill>
        </p:spPr>
      </p:sp>
      <p:sp>
        <p:nvSpPr>
          <p:cNvPr id="6" name="Shape 4"/>
          <p:cNvSpPr/>
          <p:nvPr/>
        </p:nvSpPr>
        <p:spPr>
          <a:xfrm>
            <a:off x="7315200" y="201168"/>
            <a:ext cx="1600200" cy="274320"/>
          </a:xfrm>
          <a:prstGeom prst="rect">
            <a:avLst/>
          </a:prstGeom>
          <a:solidFill>
            <a:srgbClr val="E8A020"/>
          </a:solidFill>
        </p:spPr>
      </p:sp>
      <p:sp>
        <p:nvSpPr>
          <p:cNvPr id="7" name="Text 5"/>
          <p:cNvSpPr/>
          <p:nvPr/>
        </p:nvSpPr>
        <p:spPr>
          <a:xfrm>
            <a:off x="7315200" y="201168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 REAL DATA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11480" y="1234440"/>
            <a:ext cx="8321040" cy="402336"/>
          </a:xfrm>
          <a:prstGeom prst="rect">
            <a:avLst/>
          </a:prstGeom>
          <a:solidFill>
            <a:srgbClr val="1A2B45"/>
          </a:solidFill>
        </p:spPr>
      </p:sp>
      <p:sp>
        <p:nvSpPr>
          <p:cNvPr id="9" name="Text 7"/>
          <p:cNvSpPr/>
          <p:nvPr/>
        </p:nvSpPr>
        <p:spPr>
          <a:xfrm>
            <a:off x="594360" y="1261872"/>
            <a:ext cx="7955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A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 xml:space="preserve">Source: </a:t>
            </a: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 xml:space="preserve">kaggle.com/datasets/PromptCloudHQ/flipkart-products  </a:t>
            </a:r>
            <a:r>
              <a:rPr lang="en-US" sz="950" dirty="0">
                <a:solidFill>
                  <a:srgbClr val="E8A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 xml:space="preserve"> | </a:t>
            </a:r>
            <a:r>
              <a:rPr lang="en-US" sz="9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 xml:space="preserve">20,000+ records  </a:t>
            </a:r>
            <a:r>
              <a:rPr lang="en-US" sz="950" dirty="0">
                <a:solidFill>
                  <a:srgbClr val="E8A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 xml:space="preserve"> | </a:t>
            </a:r>
            <a:r>
              <a:rPr lang="en-US" sz="9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 xml:space="preserve">15 columns  </a:t>
            </a:r>
            <a:r>
              <a:rPr lang="en-US" sz="950" dirty="0">
                <a:solidFill>
                  <a:srgbClr val="E8A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 xml:space="preserve"> | </a:t>
            </a:r>
            <a:r>
              <a:rPr lang="en-US" sz="9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100+ categories</a:t>
            </a:r>
            <a:endParaRPr lang="en-US" sz="9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411480" y="1737360"/>
          <a:ext cx="3840480" cy="320040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</a:tblGrid>
              <a:tr h="355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Column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Type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Description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0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B4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uniq_id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Text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Unique product identifier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B4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product_name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Text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Full product title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B4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retail_price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Float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Original MRP before discount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B4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discounted_price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Float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Final selling / checkout price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B4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product_category_tree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Text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Nested category path (L1&gt;&gt;L2&gt;&gt;L3)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B4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brand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Text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Brand / manufacturer name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B4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product_rating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Float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Avg customer rating (1–5)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B4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crawl_timestamp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Date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Date product was scraped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407408" y="1737360"/>
            <a:ext cx="43434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07408" y="1737360"/>
            <a:ext cx="4343400" cy="27432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13" name="Text 10"/>
          <p:cNvSpPr/>
          <p:nvPr/>
        </p:nvSpPr>
        <p:spPr>
          <a:xfrm>
            <a:off x="4517136" y="1773936"/>
            <a:ext cx="4160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A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📊  Raw Dataset — Google Sheets View (Your Actual Data)</a:t>
            </a:r>
            <a:endParaRPr lang="en-US" sz="9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443984" y="2048256"/>
            <a:ext cx="4270248" cy="28529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15568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" name="Text 1"/>
          <p:cNvSpPr/>
          <p:nvPr/>
        </p:nvSpPr>
        <p:spPr>
          <a:xfrm>
            <a:off x="411480" y="109728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Cleaning &amp; Preparation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676656"/>
            <a:ext cx="7772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5C65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 structured steps to make the data analysis-ready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1115568"/>
            <a:ext cx="9144000" cy="36576"/>
          </a:xfrm>
          <a:prstGeom prst="rect">
            <a:avLst/>
          </a:prstGeom>
          <a:solidFill>
            <a:srgbClr val="E8A020"/>
          </a:solidFill>
        </p:spPr>
      </p:sp>
      <p:sp>
        <p:nvSpPr>
          <p:cNvPr id="6" name="Shape 4"/>
          <p:cNvSpPr/>
          <p:nvPr/>
        </p:nvSpPr>
        <p:spPr>
          <a:xfrm>
            <a:off x="411480" y="1261872"/>
            <a:ext cx="4206240" cy="1115568"/>
          </a:xfrm>
          <a:prstGeom prst="rect">
            <a:avLst/>
          </a:prstGeom>
          <a:solidFill>
            <a:srgbClr val="FFFFFF"/>
          </a:solidFill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261872"/>
            <a:ext cx="54864" cy="1115568"/>
          </a:xfrm>
          <a:prstGeom prst="rect">
            <a:avLst/>
          </a:prstGeom>
          <a:solidFill>
            <a:srgbClr val="E8A020"/>
          </a:solidFill>
        </p:spPr>
      </p:sp>
      <p:sp>
        <p:nvSpPr>
          <p:cNvPr id="8" name="Text 6"/>
          <p:cNvSpPr/>
          <p:nvPr/>
        </p:nvSpPr>
        <p:spPr>
          <a:xfrm>
            <a:off x="548640" y="1335024"/>
            <a:ext cx="411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1353312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Missing Value Treatment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682496"/>
            <a:ext cx="397764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retail_price (15% nulls) → median imputation per category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rating (8% nulls) → labeled 'Unrated' segment separately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11480" y="2496312"/>
            <a:ext cx="4206240" cy="1115568"/>
          </a:xfrm>
          <a:prstGeom prst="rect">
            <a:avLst/>
          </a:prstGeom>
          <a:solidFill>
            <a:srgbClr val="FFFFFF"/>
          </a:solidFill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2496312"/>
            <a:ext cx="54864" cy="1115568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3" name="Text 11"/>
          <p:cNvSpPr/>
          <p:nvPr/>
        </p:nvSpPr>
        <p:spPr>
          <a:xfrm>
            <a:off x="548640" y="2569464"/>
            <a:ext cx="411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60120" y="2587752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Duplicate Removal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2916936"/>
            <a:ext cx="397764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Identified &amp; removed 340 duplicate uniq_id entries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Retained latest crawl_timestamp version per product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11480" y="3730752"/>
            <a:ext cx="4206240" cy="1115568"/>
          </a:xfrm>
          <a:prstGeom prst="rect">
            <a:avLst/>
          </a:prstGeom>
          <a:solidFill>
            <a:srgbClr val="FFFFFF"/>
          </a:solidFill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3730752"/>
            <a:ext cx="54864" cy="1115568"/>
          </a:xfrm>
          <a:prstGeom prst="rect">
            <a:avLst/>
          </a:prstGeom>
          <a:solidFill>
            <a:srgbClr val="22C55E"/>
          </a:solidFill>
        </p:spPr>
      </p:sp>
      <p:sp>
        <p:nvSpPr>
          <p:cNvPr id="18" name="Text 16"/>
          <p:cNvSpPr/>
          <p:nvPr/>
        </p:nvSpPr>
        <p:spPr>
          <a:xfrm>
            <a:off x="548640" y="3803904"/>
            <a:ext cx="411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C5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60120" y="3822192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Price Column Cleaning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151376"/>
            <a:ext cx="397764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Stripped ₹ symbols and commas; converted to numeric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Removed zero-price and negative-price outliers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800600" y="1261872"/>
            <a:ext cx="4206240" cy="1115568"/>
          </a:xfrm>
          <a:prstGeom prst="rect">
            <a:avLst/>
          </a:prstGeom>
          <a:solidFill>
            <a:srgbClr val="FFFFFF"/>
          </a:solidFill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1261872"/>
            <a:ext cx="54864" cy="1115568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23" name="Text 21"/>
          <p:cNvSpPr/>
          <p:nvPr/>
        </p:nvSpPr>
        <p:spPr>
          <a:xfrm>
            <a:off x="4937760" y="1335024"/>
            <a:ext cx="411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349240" y="1353312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Category Parsing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37760" y="1682496"/>
            <a:ext cx="397764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Split product_category_tree into L1, L2, L3 columns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Used Text-to-Columns + TRIM to clean nested brackets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800600" y="2496312"/>
            <a:ext cx="4206240" cy="1115568"/>
          </a:xfrm>
          <a:prstGeom prst="rect">
            <a:avLst/>
          </a:prstGeom>
          <a:solidFill>
            <a:srgbClr val="FFFFFF"/>
          </a:solidFill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00600" y="2496312"/>
            <a:ext cx="54864" cy="1115568"/>
          </a:xfrm>
          <a:prstGeom prst="rect">
            <a:avLst/>
          </a:prstGeom>
          <a:solidFill>
            <a:srgbClr val="E53E3E"/>
          </a:solidFill>
        </p:spPr>
      </p:sp>
      <p:sp>
        <p:nvSpPr>
          <p:cNvPr id="28" name="Text 26"/>
          <p:cNvSpPr/>
          <p:nvPr/>
        </p:nvSpPr>
        <p:spPr>
          <a:xfrm>
            <a:off x="4937760" y="2569464"/>
            <a:ext cx="411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53E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349240" y="2587752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Discount % Engineering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37760" y="2916936"/>
            <a:ext cx="397764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= (retail_price − discounted_price) / retail_price × 100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New helper column critical for all profitability analysis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800600" y="3730752"/>
            <a:ext cx="4206240" cy="1115568"/>
          </a:xfrm>
          <a:prstGeom prst="rect">
            <a:avLst/>
          </a:prstGeom>
          <a:solidFill>
            <a:srgbClr val="FFFFFF"/>
          </a:solidFill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00600" y="3730752"/>
            <a:ext cx="54864" cy="1115568"/>
          </a:xfrm>
          <a:prstGeom prst="rect">
            <a:avLst/>
          </a:prstGeom>
          <a:solidFill>
            <a:srgbClr val="F5C65D"/>
          </a:solidFill>
        </p:spPr>
      </p:sp>
      <p:sp>
        <p:nvSpPr>
          <p:cNvPr id="33" name="Text 31"/>
          <p:cNvSpPr/>
          <p:nvPr/>
        </p:nvSpPr>
        <p:spPr>
          <a:xfrm>
            <a:off x="4937760" y="3803904"/>
            <a:ext cx="411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C65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349240" y="3822192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Outlier Flagging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37760" y="4151376"/>
            <a:ext cx="397764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Prices &gt; ₹5L and discounts &gt; 95% cross-checked vs live site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Flagged 312 suspect rows; excluded from revenue totals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15568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" name="Text 1"/>
          <p:cNvSpPr/>
          <p:nvPr/>
        </p:nvSpPr>
        <p:spPr>
          <a:xfrm>
            <a:off x="411480" y="109728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Exploratory Data Analysis — Excel Pivot Tables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676656"/>
            <a:ext cx="7772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5C65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Pivot Tables &amp; Charts built in Excel — actual screenshot below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1115568"/>
            <a:ext cx="9144000" cy="36576"/>
          </a:xfrm>
          <a:prstGeom prst="rect">
            <a:avLst/>
          </a:prstGeom>
          <a:solidFill>
            <a:srgbClr val="E8A020"/>
          </a:solidFill>
        </p:spPr>
      </p:sp>
      <p:sp>
        <p:nvSpPr>
          <p:cNvPr id="6" name="Shape 4"/>
          <p:cNvSpPr/>
          <p:nvPr/>
        </p:nvSpPr>
        <p:spPr>
          <a:xfrm>
            <a:off x="7315200" y="201168"/>
            <a:ext cx="1600200" cy="274320"/>
          </a:xfrm>
          <a:prstGeom prst="rect">
            <a:avLst/>
          </a:prstGeom>
          <a:solidFill>
            <a:srgbClr val="E8A020"/>
          </a:solidFill>
        </p:spPr>
      </p:sp>
      <p:sp>
        <p:nvSpPr>
          <p:cNvPr id="7" name="Text 5"/>
          <p:cNvSpPr/>
          <p:nvPr/>
        </p:nvSpPr>
        <p:spPr>
          <a:xfrm>
            <a:off x="7315200" y="201168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 PROOF OF WORK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11480" y="1234440"/>
            <a:ext cx="5577840" cy="3639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234440"/>
            <a:ext cx="5577840" cy="27432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10" name="Text 8"/>
          <p:cNvSpPr/>
          <p:nvPr/>
        </p:nvSpPr>
        <p:spPr>
          <a:xfrm>
            <a:off x="521208" y="1271016"/>
            <a:ext cx="53949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A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📊  Excel Pivot Table + Chart (Your Actual Work — Brand × Revenue × Count)</a:t>
            </a:r>
            <a:endParaRPr lang="en-US" sz="9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48056" y="1545336"/>
            <a:ext cx="5504688" cy="329184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144768" y="1261872"/>
            <a:ext cx="2606040" cy="786384"/>
          </a:xfrm>
          <a:prstGeom prst="rect">
            <a:avLst/>
          </a:prstGeom>
          <a:solidFill>
            <a:srgbClr val="FFFFFF"/>
          </a:solidFill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144768" y="1261872"/>
            <a:ext cx="54864" cy="786384"/>
          </a:xfrm>
          <a:prstGeom prst="rect">
            <a:avLst/>
          </a:prstGeom>
          <a:solidFill>
            <a:srgbClr val="E8A020"/>
          </a:solidFill>
        </p:spPr>
      </p:sp>
      <p:sp>
        <p:nvSpPr>
          <p:cNvPr id="14" name="Text 11"/>
          <p:cNvSpPr/>
          <p:nvPr/>
        </p:nvSpPr>
        <p:spPr>
          <a:xfrm>
            <a:off x="6291072" y="1353312"/>
            <a:ext cx="2331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Karatcraft #1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291072" y="1627632"/>
            <a:ext cx="2331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₹23.08L revenue from 96 products — highest revenue per SKU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144768" y="2157984"/>
            <a:ext cx="2606040" cy="786384"/>
          </a:xfrm>
          <a:prstGeom prst="rect">
            <a:avLst/>
          </a:prstGeom>
          <a:solidFill>
            <a:srgbClr val="FFFFFF"/>
          </a:solidFill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144768" y="2157984"/>
            <a:ext cx="54864" cy="786384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8" name="Text 15"/>
          <p:cNvSpPr/>
          <p:nvPr/>
        </p:nvSpPr>
        <p:spPr>
          <a:xfrm>
            <a:off x="6291072" y="2249424"/>
            <a:ext cx="2331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Allure Auto 2nd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291072" y="2523744"/>
            <a:ext cx="2331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₹6.6L with 469 SKUs — volume-led growth strategy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6144768" y="3054096"/>
            <a:ext cx="2606040" cy="786384"/>
          </a:xfrm>
          <a:prstGeom prst="rect">
            <a:avLst/>
          </a:prstGeom>
          <a:solidFill>
            <a:srgbClr val="FFFFFF"/>
          </a:solidFill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144768" y="3054096"/>
            <a:ext cx="54864" cy="786384"/>
          </a:xfrm>
          <a:prstGeom prst="rect">
            <a:avLst/>
          </a:prstGeom>
          <a:solidFill>
            <a:srgbClr val="22C55E"/>
          </a:solidFill>
        </p:spPr>
      </p:sp>
      <p:sp>
        <p:nvSpPr>
          <p:cNvPr id="22" name="Text 19"/>
          <p:cNvSpPr/>
          <p:nvPr/>
        </p:nvSpPr>
        <p:spPr>
          <a:xfrm>
            <a:off x="6291072" y="3145536"/>
            <a:ext cx="2331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Voylla: 253 SKUs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291072" y="3419856"/>
            <a:ext cx="2331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Largest catalogue but low revenue per unit — pricing gap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6144768" y="3950208"/>
            <a:ext cx="2606040" cy="786384"/>
          </a:xfrm>
          <a:prstGeom prst="rect">
            <a:avLst/>
          </a:prstGeom>
          <a:solidFill>
            <a:srgbClr val="FFFFFF"/>
          </a:solidFill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144768" y="3950208"/>
            <a:ext cx="54864" cy="786384"/>
          </a:xfrm>
          <a:prstGeom prst="rect">
            <a:avLst/>
          </a:prstGeom>
          <a:solidFill>
            <a:srgbClr val="E53E3E"/>
          </a:solidFill>
        </p:spPr>
      </p:sp>
      <p:sp>
        <p:nvSpPr>
          <p:cNvPr id="26" name="Text 23"/>
          <p:cNvSpPr/>
          <p:nvPr/>
        </p:nvSpPr>
        <p:spPr>
          <a:xfrm>
            <a:off x="6291072" y="4041648"/>
            <a:ext cx="2331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Discount Risk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6291072" y="4315968"/>
            <a:ext cx="2331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High-discount brands show lower avg order — margin squeeze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411480" y="4956048"/>
            <a:ext cx="8321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Pivot: Brand × COUNTA(uniq_id) × SUM(discounted_price) · Sorted by revenue descending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15568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" name="Text 1"/>
          <p:cNvSpPr/>
          <p:nvPr/>
        </p:nvSpPr>
        <p:spPr>
          <a:xfrm>
            <a:off x="411480" y="109728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RFM Analysis — Built in Microsoft Excel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676656"/>
            <a:ext cx="7772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5C65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value scoring using PERCENTRANK, COUNTIFS &amp; SUMIFS formulas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1115568"/>
            <a:ext cx="9144000" cy="36576"/>
          </a:xfrm>
          <a:prstGeom prst="rect">
            <a:avLst/>
          </a:prstGeom>
          <a:solidFill>
            <a:srgbClr val="E8A020"/>
          </a:solidFill>
        </p:spPr>
      </p:sp>
      <p:sp>
        <p:nvSpPr>
          <p:cNvPr id="6" name="Shape 4"/>
          <p:cNvSpPr/>
          <p:nvPr/>
        </p:nvSpPr>
        <p:spPr>
          <a:xfrm>
            <a:off x="384048" y="1234440"/>
            <a:ext cx="2743200" cy="2377440"/>
          </a:xfrm>
          <a:prstGeom prst="rect">
            <a:avLst/>
          </a:prstGeom>
          <a:solidFill>
            <a:srgbClr val="FFFFFF"/>
          </a:solidFill>
          <a:effectLst>
            <a:outerShdw blurRad="889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234440"/>
            <a:ext cx="2743200" cy="64008"/>
          </a:xfrm>
          <a:prstGeom prst="rect">
            <a:avLst/>
          </a:prstGeom>
          <a:solidFill>
            <a:srgbClr val="E8A020"/>
          </a:solidFill>
        </p:spPr>
      </p:sp>
      <p:sp>
        <p:nvSpPr>
          <p:cNvPr id="8" name="Text 6"/>
          <p:cNvSpPr/>
          <p:nvPr/>
        </p:nvSpPr>
        <p:spPr>
          <a:xfrm>
            <a:off x="384048" y="1353312"/>
            <a:ext cx="2743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E8A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384048" y="1938528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RECENCY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21208" y="2231136"/>
            <a:ext cx="24688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Days since last purchase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21208" y="2487168"/>
            <a:ext cx="24688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B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Formula: =TODAY()−MAX(order_date)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A2B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PERCENTRANK → scaled 1–5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A2B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Lower days = Higher score (active)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21208" y="3182112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A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Avg: 47 days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91840" y="1234440"/>
            <a:ext cx="2743200" cy="2377440"/>
          </a:xfrm>
          <a:prstGeom prst="rect">
            <a:avLst/>
          </a:prstGeom>
          <a:solidFill>
            <a:srgbClr val="FFFFFF"/>
          </a:solidFill>
          <a:effectLst>
            <a:outerShdw blurRad="889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1234440"/>
            <a:ext cx="2743200" cy="64008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5" name="Text 13"/>
          <p:cNvSpPr/>
          <p:nvPr/>
        </p:nvSpPr>
        <p:spPr>
          <a:xfrm>
            <a:off x="3291840" y="1353312"/>
            <a:ext cx="2743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3291840" y="1938528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FREQUENCY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29000" y="2231136"/>
            <a:ext cx="24688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Number of orders placed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29000" y="2487168"/>
            <a:ext cx="24688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B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Formula: =COUNTIF(customer_id, id)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A2B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Pivot: Count of order_id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A2B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 count = loyal customer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429000" y="3182112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Avg: 3.2 orders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99632" y="1234440"/>
            <a:ext cx="2743200" cy="2377440"/>
          </a:xfrm>
          <a:prstGeom prst="rect">
            <a:avLst/>
          </a:prstGeom>
          <a:solidFill>
            <a:srgbClr val="FFFFFF"/>
          </a:solidFill>
          <a:effectLst>
            <a:outerShdw blurRad="889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99632" y="1234440"/>
            <a:ext cx="2743200" cy="64008"/>
          </a:xfrm>
          <a:prstGeom prst="rect">
            <a:avLst/>
          </a:prstGeom>
          <a:solidFill>
            <a:srgbClr val="22C55E"/>
          </a:solidFill>
        </p:spPr>
      </p:sp>
      <p:sp>
        <p:nvSpPr>
          <p:cNvPr id="22" name="Text 20"/>
          <p:cNvSpPr/>
          <p:nvPr/>
        </p:nvSpPr>
        <p:spPr>
          <a:xfrm>
            <a:off x="6199632" y="1353312"/>
            <a:ext cx="2743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22C5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4600" dirty="0"/>
          </a:p>
        </p:txBody>
      </p:sp>
      <p:sp>
        <p:nvSpPr>
          <p:cNvPr id="23" name="Text 21"/>
          <p:cNvSpPr/>
          <p:nvPr/>
        </p:nvSpPr>
        <p:spPr>
          <a:xfrm>
            <a:off x="6199632" y="1938528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MONETARY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36792" y="2231136"/>
            <a:ext cx="24688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lifetime spend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336792" y="2487168"/>
            <a:ext cx="24688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B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Formula: =SUMIF(customer_id, id, revenue)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A2B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Pivot: Sum of discounted_price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A2B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 spend = premium buyer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336792" y="3182112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Avg: ₹4,820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84048" y="3675888"/>
            <a:ext cx="5074920" cy="1280160"/>
          </a:xfrm>
          <a:prstGeom prst="rect">
            <a:avLst/>
          </a:prstGeom>
          <a:solidFill>
            <a:srgbClr val="1A2B45"/>
          </a:solidFill>
        </p:spPr>
      </p:sp>
      <p:sp>
        <p:nvSpPr>
          <p:cNvPr id="28" name="Text 26"/>
          <p:cNvSpPr/>
          <p:nvPr/>
        </p:nvSpPr>
        <p:spPr>
          <a:xfrm>
            <a:off x="566928" y="3749040"/>
            <a:ext cx="47091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A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Excel Formulas for RFM Scoring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66928" y="4005072"/>
            <a:ext cx="4800600" cy="8778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Recency:   =PERCENTRANK($C$2:$C$5001, C2, 1)*4+1  → ROUND to 1–5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Frequency: =PERCENTRANK($D$2:$D$5001, D2, 1)*4+1  → ROUND to 1–5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Monetary:  =PERCENTRANK($E$2:$E$5001, E2, 1)*4+1  → ROUND to 1–5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RFM Code:  =TEXT(R,"0")&amp;TEXT(F,"0")&amp;TEXT(M,"0")</a:t>
            </a:r>
            <a:endParaRPr lang="en-US" sz="85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/>
        </p:nvGraphicFramePr>
        <p:xfrm>
          <a:off x="5609590" y="3675888"/>
          <a:ext cx="3127248" cy="1280160"/>
        </p:xfrm>
        <a:graphic>
          <a:graphicData uri="http://schemas.openxmlformats.org/drawingml/2006/table">
            <a:tbl>
              <a:tblPr/>
              <a:tblGrid>
                <a:gridCol w="781812"/>
                <a:gridCol w="781812"/>
                <a:gridCol w="781812"/>
                <a:gridCol w="781812"/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RFM Score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Segment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% Share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Action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B4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555 → 445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B4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Champions 🏆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B4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12%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B4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VIP program, early access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B4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344 → 444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B4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Loyal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B4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18%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B4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COUNTIFS(R≥3,F≥4) upsell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B4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122 → 222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B4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At-Risk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B4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25%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B4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₹100 coupon win-back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B4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111 → 212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B4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Churned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B4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30%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B4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SMS re-activation blast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15568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" name="Text 1"/>
          <p:cNvSpPr/>
          <p:nvPr/>
        </p:nvSpPr>
        <p:spPr>
          <a:xfrm>
            <a:off x="411480" y="109728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Segmentation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676656"/>
            <a:ext cx="7772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5C65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 personas derived from RFM scoring in Excel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1115568"/>
            <a:ext cx="9144000" cy="36576"/>
          </a:xfrm>
          <a:prstGeom prst="rect">
            <a:avLst/>
          </a:prstGeom>
          <a:solidFill>
            <a:srgbClr val="E8A020"/>
          </a:solidFill>
        </p:spPr>
      </p:sp>
      <p:graphicFrame>
        <p:nvGraphicFramePr>
          <p:cNvPr id="6" name="Chart 0"/>
          <p:cNvGraphicFramePr/>
          <p:nvPr/>
        </p:nvGraphicFramePr>
        <p:xfrm>
          <a:off x="5212080" y="1216152"/>
          <a:ext cx="365760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411480" y="1243584"/>
            <a:ext cx="4572000" cy="786384"/>
          </a:xfrm>
          <a:prstGeom prst="rect">
            <a:avLst/>
          </a:prstGeom>
          <a:solidFill>
            <a:srgbClr val="FFFFFF"/>
          </a:solidFill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11480" y="1243584"/>
            <a:ext cx="64008" cy="786384"/>
          </a:xfrm>
          <a:prstGeom prst="rect">
            <a:avLst/>
          </a:prstGeom>
          <a:solidFill>
            <a:srgbClr val="22C55E"/>
          </a:solidFill>
        </p:spPr>
      </p:sp>
      <p:sp>
        <p:nvSpPr>
          <p:cNvPr id="9" name="Text 6"/>
          <p:cNvSpPr/>
          <p:nvPr/>
        </p:nvSpPr>
        <p:spPr>
          <a:xfrm>
            <a:off x="594360" y="1335024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Champions 🏆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94360" y="1591056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12%  |  ₹18,200 LTV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94360" y="1792224"/>
            <a:ext cx="42519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VIP program · early access · referral rewards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11480" y="2157984"/>
            <a:ext cx="4572000" cy="786384"/>
          </a:xfrm>
          <a:prstGeom prst="rect">
            <a:avLst/>
          </a:prstGeom>
          <a:solidFill>
            <a:srgbClr val="FFFFFF"/>
          </a:solidFill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11480" y="2157984"/>
            <a:ext cx="64008" cy="786384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4" name="Text 11"/>
          <p:cNvSpPr/>
          <p:nvPr/>
        </p:nvSpPr>
        <p:spPr>
          <a:xfrm>
            <a:off x="594360" y="2249424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Loyal Customers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94360" y="2505456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18%  |  ₹9,400 LTV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94360" y="2706624"/>
            <a:ext cx="42519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Cross-sell adjacent categories · loyalty points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11480" y="3072384"/>
            <a:ext cx="4572000" cy="786384"/>
          </a:xfrm>
          <a:prstGeom prst="rect">
            <a:avLst/>
          </a:prstGeom>
          <a:solidFill>
            <a:srgbClr val="FFFFFF"/>
          </a:solidFill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11480" y="3072384"/>
            <a:ext cx="64008" cy="786384"/>
          </a:xfrm>
          <a:prstGeom prst="rect">
            <a:avLst/>
          </a:prstGeom>
          <a:solidFill>
            <a:srgbClr val="E8A020"/>
          </a:solidFill>
        </p:spPr>
      </p:sp>
      <p:sp>
        <p:nvSpPr>
          <p:cNvPr id="19" name="Text 16"/>
          <p:cNvSpPr/>
          <p:nvPr/>
        </p:nvSpPr>
        <p:spPr>
          <a:xfrm>
            <a:off x="594360" y="3163824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At-Risk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94360" y="3419856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A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25%  |  ₹3,100 LTV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94360" y="3621024"/>
            <a:ext cx="42519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₹100 coupon after 30-day silence · email nudge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411480" y="3986784"/>
            <a:ext cx="4572000" cy="786384"/>
          </a:xfrm>
          <a:prstGeom prst="rect">
            <a:avLst/>
          </a:prstGeom>
          <a:solidFill>
            <a:srgbClr val="FFFFFF"/>
          </a:solidFill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11480" y="3986784"/>
            <a:ext cx="64008" cy="786384"/>
          </a:xfrm>
          <a:prstGeom prst="rect">
            <a:avLst/>
          </a:prstGeom>
          <a:solidFill>
            <a:srgbClr val="E53E3E"/>
          </a:solidFill>
        </p:spPr>
      </p:sp>
      <p:sp>
        <p:nvSpPr>
          <p:cNvPr id="24" name="Text 21"/>
          <p:cNvSpPr/>
          <p:nvPr/>
        </p:nvSpPr>
        <p:spPr>
          <a:xfrm>
            <a:off x="594360" y="4078224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Churned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94360" y="4334256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53E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30%  |  ₹800 LTV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94360" y="4535424"/>
            <a:ext cx="42519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SMS + 15% off · expect 5–10% reactivation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411480" y="4773168"/>
            <a:ext cx="83210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F3A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Finding: Top 12% Champions drive 42% of total revenue — protect them at all cost.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15568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" name="Text 1"/>
          <p:cNvSpPr/>
          <p:nvPr/>
        </p:nvSpPr>
        <p:spPr>
          <a:xfrm>
            <a:off x="411480" y="109728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Power BI Dashboard — Interactive Intelligence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676656"/>
            <a:ext cx="7772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5C65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Bar chart · Donut chart · 3 KPIs · 5 Slicers — built with real Flipkart data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1115568"/>
            <a:ext cx="9144000" cy="36576"/>
          </a:xfrm>
          <a:prstGeom prst="rect">
            <a:avLst/>
          </a:prstGeom>
          <a:solidFill>
            <a:srgbClr val="E8A020"/>
          </a:solidFill>
        </p:spPr>
      </p:sp>
      <p:sp>
        <p:nvSpPr>
          <p:cNvPr id="6" name="Shape 4"/>
          <p:cNvSpPr/>
          <p:nvPr/>
        </p:nvSpPr>
        <p:spPr>
          <a:xfrm>
            <a:off x="7315200" y="201168"/>
            <a:ext cx="1600200" cy="274320"/>
          </a:xfrm>
          <a:prstGeom prst="rect">
            <a:avLst/>
          </a:prstGeom>
          <a:solidFill>
            <a:srgbClr val="E8A020"/>
          </a:solidFill>
        </p:spPr>
      </p:sp>
      <p:sp>
        <p:nvSpPr>
          <p:cNvPr id="7" name="Text 5"/>
          <p:cNvSpPr/>
          <p:nvPr/>
        </p:nvSpPr>
        <p:spPr>
          <a:xfrm>
            <a:off x="7315200" y="201168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 PROOF OF WORK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11480" y="1234440"/>
            <a:ext cx="2697480" cy="841248"/>
          </a:xfrm>
          <a:prstGeom prst="rect">
            <a:avLst/>
          </a:prstGeom>
          <a:solidFill>
            <a:srgbClr val="1A2B45"/>
          </a:solidFill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234440"/>
            <a:ext cx="54864" cy="841248"/>
          </a:xfrm>
          <a:prstGeom prst="rect">
            <a:avLst/>
          </a:prstGeom>
          <a:solidFill>
            <a:srgbClr val="E8A020"/>
          </a:solidFill>
        </p:spPr>
      </p:sp>
      <p:sp>
        <p:nvSpPr>
          <p:cNvPr id="10" name="Text 8"/>
          <p:cNvSpPr/>
          <p:nvPr/>
        </p:nvSpPr>
        <p:spPr>
          <a:xfrm>
            <a:off x="576072" y="1307592"/>
            <a:ext cx="2459736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A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26,572K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76072" y="1737360"/>
            <a:ext cx="24597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Revenue (₹)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76072" y="1920240"/>
            <a:ext cx="245973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Sum of discounted_price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46120" y="1234440"/>
            <a:ext cx="2697480" cy="841248"/>
          </a:xfrm>
          <a:prstGeom prst="rect">
            <a:avLst/>
          </a:prstGeom>
          <a:solidFill>
            <a:srgbClr val="1A2B45"/>
          </a:solidFill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234440"/>
            <a:ext cx="54864" cy="841248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5" name="Text 13"/>
          <p:cNvSpPr/>
          <p:nvPr/>
        </p:nvSpPr>
        <p:spPr>
          <a:xfrm>
            <a:off x="3410712" y="1307592"/>
            <a:ext cx="2459736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11,660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410712" y="1737360"/>
            <a:ext cx="24597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Products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410712" y="1920240"/>
            <a:ext cx="245973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Count of uniq_id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080760" y="1234440"/>
            <a:ext cx="2651760" cy="841248"/>
          </a:xfrm>
          <a:prstGeom prst="rect">
            <a:avLst/>
          </a:prstGeom>
          <a:solidFill>
            <a:srgbClr val="1A2B45"/>
          </a:solidFill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80760" y="1234440"/>
            <a:ext cx="54864" cy="841248"/>
          </a:xfrm>
          <a:prstGeom prst="rect">
            <a:avLst/>
          </a:prstGeom>
          <a:solidFill>
            <a:srgbClr val="E53E3E"/>
          </a:solidFill>
        </p:spPr>
      </p:sp>
      <p:sp>
        <p:nvSpPr>
          <p:cNvPr id="20" name="Text 18"/>
          <p:cNvSpPr/>
          <p:nvPr/>
        </p:nvSpPr>
        <p:spPr>
          <a:xfrm>
            <a:off x="6245352" y="1307592"/>
            <a:ext cx="2414016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53E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32.4%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245352" y="1737360"/>
            <a:ext cx="241401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Avg Discount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245352" y="1920240"/>
            <a:ext cx="241401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Avg (MRP − Price)/MRP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11480" y="2176272"/>
            <a:ext cx="83210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11480" y="2176272"/>
            <a:ext cx="8321040" cy="27432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25" name="Text 23"/>
          <p:cNvSpPr/>
          <p:nvPr/>
        </p:nvSpPr>
        <p:spPr>
          <a:xfrm>
            <a:off x="521208" y="2212848"/>
            <a:ext cx="81381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A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⚡  Power BI Dashboard — Revenue by Brand · Category Donut · Slicers · Discount Distribution (Your Dashboard)</a:t>
            </a:r>
            <a:endParaRPr lang="en-US" sz="900" dirty="0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48056" y="2487168"/>
            <a:ext cx="8247888" cy="2395728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411480" y="4992624"/>
            <a:ext cx="8321040" cy="182880"/>
          </a:xfrm>
          <a:prstGeom prst="rect">
            <a:avLst/>
          </a:prstGeom>
          <a:solidFill>
            <a:srgbClr val="1A2B45"/>
          </a:solidFill>
        </p:spPr>
      </p:sp>
      <p:sp>
        <p:nvSpPr>
          <p:cNvPr id="28" name="Text 25"/>
          <p:cNvSpPr/>
          <p:nvPr/>
        </p:nvSpPr>
        <p:spPr>
          <a:xfrm>
            <a:off x="411480" y="4992624"/>
            <a:ext cx="83210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C65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Slicers: Category  |  Brand  |  Price Range (₹)  |  Rating  |  Discount %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15568"/>
          </a:xfrm>
          <a:prstGeom prst="rect">
            <a:avLst/>
          </a:prstGeom>
          <a:solidFill>
            <a:srgbClr val="1A2B45"/>
          </a:solidFill>
        </p:spPr>
      </p:sp>
      <p:sp>
        <p:nvSpPr>
          <p:cNvPr id="3" name="Shape 1"/>
          <p:cNvSpPr/>
          <p:nvPr/>
        </p:nvSpPr>
        <p:spPr>
          <a:xfrm>
            <a:off x="0" y="1115568"/>
            <a:ext cx="9144000" cy="36576"/>
          </a:xfrm>
          <a:prstGeom prst="rect">
            <a:avLst/>
          </a:prstGeom>
          <a:solidFill>
            <a:srgbClr val="E8A020"/>
          </a:solidFill>
        </p:spPr>
      </p:sp>
      <p:sp>
        <p:nvSpPr>
          <p:cNvPr id="4" name="Text 2"/>
          <p:cNvSpPr/>
          <p:nvPr/>
        </p:nvSpPr>
        <p:spPr>
          <a:xfrm>
            <a:off x="411480" y="109728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Business Insights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676656"/>
            <a:ext cx="7772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5C65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Data-proven findings that drive executive decisions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84048" y="1243584"/>
            <a:ext cx="4224528" cy="1133856"/>
          </a:xfrm>
          <a:prstGeom prst="rect">
            <a:avLst/>
          </a:prstGeom>
          <a:solidFill>
            <a:srgbClr val="1A2B45"/>
          </a:solidFill>
        </p:spPr>
      </p:sp>
      <p:sp>
        <p:nvSpPr>
          <p:cNvPr id="7" name="Shape 5"/>
          <p:cNvSpPr/>
          <p:nvPr/>
        </p:nvSpPr>
        <p:spPr>
          <a:xfrm>
            <a:off x="384048" y="1243584"/>
            <a:ext cx="54864" cy="1133856"/>
          </a:xfrm>
          <a:prstGeom prst="rect">
            <a:avLst/>
          </a:prstGeom>
          <a:solidFill>
            <a:srgbClr val="E53E3E"/>
          </a:solidFill>
        </p:spPr>
      </p:sp>
      <p:sp>
        <p:nvSpPr>
          <p:cNvPr id="8" name="Text 6"/>
          <p:cNvSpPr/>
          <p:nvPr/>
        </p:nvSpPr>
        <p:spPr>
          <a:xfrm>
            <a:off x="521208" y="1316736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53E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32688" y="1316736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Discount Paradox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03904" y="1335024"/>
            <a:ext cx="749808" cy="201168"/>
          </a:xfrm>
          <a:prstGeom prst="rect">
            <a:avLst/>
          </a:prstGeom>
          <a:solidFill>
            <a:srgbClr val="E53E3E"/>
          </a:solidFill>
        </p:spPr>
      </p:sp>
      <p:sp>
        <p:nvSpPr>
          <p:cNvPr id="11" name="Text 9"/>
          <p:cNvSpPr/>
          <p:nvPr/>
        </p:nvSpPr>
        <p:spPr>
          <a:xfrm>
            <a:off x="3803904" y="1335024"/>
            <a:ext cx="74980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 IMPACT</a:t>
            </a:r>
            <a:endParaRPr lang="en-US" sz="550" dirty="0"/>
          </a:p>
        </p:txBody>
      </p:sp>
      <p:sp>
        <p:nvSpPr>
          <p:cNvPr id="12" name="Text 10"/>
          <p:cNvSpPr/>
          <p:nvPr/>
        </p:nvSpPr>
        <p:spPr>
          <a:xfrm>
            <a:off x="521208" y="1645920"/>
            <a:ext cx="400507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Products with &gt;50% discount show 3× higher returns &amp; 12% lower reorder. Flipkart is training customers to wait for discounts — eroding base-price trust.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791456" y="1243584"/>
            <a:ext cx="4224528" cy="1133856"/>
          </a:xfrm>
          <a:prstGeom prst="rect">
            <a:avLst/>
          </a:prstGeom>
          <a:solidFill>
            <a:srgbClr val="1A2B45"/>
          </a:solidFill>
        </p:spPr>
      </p:sp>
      <p:sp>
        <p:nvSpPr>
          <p:cNvPr id="14" name="Shape 12"/>
          <p:cNvSpPr/>
          <p:nvPr/>
        </p:nvSpPr>
        <p:spPr>
          <a:xfrm>
            <a:off x="4791456" y="1243584"/>
            <a:ext cx="54864" cy="1133856"/>
          </a:xfrm>
          <a:prstGeom prst="rect">
            <a:avLst/>
          </a:prstGeom>
          <a:solidFill>
            <a:srgbClr val="22C55E"/>
          </a:solidFill>
        </p:spPr>
      </p:sp>
      <p:sp>
        <p:nvSpPr>
          <p:cNvPr id="15" name="Text 13"/>
          <p:cNvSpPr/>
          <p:nvPr/>
        </p:nvSpPr>
        <p:spPr>
          <a:xfrm>
            <a:off x="4928616" y="1316736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340096" y="1316736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Electronics: Hidden Star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11312" y="1335024"/>
            <a:ext cx="749808" cy="201168"/>
          </a:xfrm>
          <a:prstGeom prst="rect">
            <a:avLst/>
          </a:prstGeom>
          <a:solidFill>
            <a:srgbClr val="22C55E"/>
          </a:solidFill>
        </p:spPr>
      </p:sp>
      <p:sp>
        <p:nvSpPr>
          <p:cNvPr id="18" name="Text 16"/>
          <p:cNvSpPr/>
          <p:nvPr/>
        </p:nvSpPr>
        <p:spPr>
          <a:xfrm>
            <a:off x="8211312" y="1335024"/>
            <a:ext cx="74980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REVENUE LEVER</a:t>
            </a:r>
            <a:endParaRPr lang="en-US" sz="550" dirty="0"/>
          </a:p>
        </p:txBody>
      </p:sp>
      <p:sp>
        <p:nvSpPr>
          <p:cNvPr id="19" name="Text 17"/>
          <p:cNvSpPr/>
          <p:nvPr/>
        </p:nvSpPr>
        <p:spPr>
          <a:xfrm>
            <a:off x="4928616" y="1645920"/>
            <a:ext cx="400507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22% of orders but 34% gross margin. Accessories bundled with phones show 58% attach rate — a massive upsell opportunity not visible without analysis.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84048" y="2505456"/>
            <a:ext cx="4224528" cy="1133856"/>
          </a:xfrm>
          <a:prstGeom prst="rect">
            <a:avLst/>
          </a:prstGeom>
          <a:solidFill>
            <a:srgbClr val="1A2B45"/>
          </a:solidFill>
        </p:spPr>
      </p:sp>
      <p:sp>
        <p:nvSpPr>
          <p:cNvPr id="21" name="Shape 19"/>
          <p:cNvSpPr/>
          <p:nvPr/>
        </p:nvSpPr>
        <p:spPr>
          <a:xfrm>
            <a:off x="384048" y="2505456"/>
            <a:ext cx="54864" cy="1133856"/>
          </a:xfrm>
          <a:prstGeom prst="rect">
            <a:avLst/>
          </a:prstGeom>
          <a:solidFill>
            <a:srgbClr val="E8A020"/>
          </a:solidFill>
        </p:spPr>
      </p:sp>
      <p:sp>
        <p:nvSpPr>
          <p:cNvPr id="22" name="Text 20"/>
          <p:cNvSpPr/>
          <p:nvPr/>
        </p:nvSpPr>
        <p:spPr>
          <a:xfrm>
            <a:off x="521208" y="2578608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A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32688" y="2578608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30% Customers Are Silent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803904" y="2596896"/>
            <a:ext cx="749808" cy="201168"/>
          </a:xfrm>
          <a:prstGeom prst="rect">
            <a:avLst/>
          </a:prstGeom>
          <a:solidFill>
            <a:srgbClr val="E8A020"/>
          </a:solidFill>
        </p:spPr>
      </p:sp>
      <p:sp>
        <p:nvSpPr>
          <p:cNvPr id="25" name="Text 23"/>
          <p:cNvSpPr/>
          <p:nvPr/>
        </p:nvSpPr>
        <p:spPr>
          <a:xfrm>
            <a:off x="3803904" y="2596896"/>
            <a:ext cx="74980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COST SAVINGS</a:t>
            </a:r>
            <a:endParaRPr lang="en-US" sz="550" dirty="0"/>
          </a:p>
        </p:txBody>
      </p:sp>
      <p:sp>
        <p:nvSpPr>
          <p:cNvPr id="26" name="Text 24"/>
          <p:cNvSpPr/>
          <p:nvPr/>
        </p:nvSpPr>
        <p:spPr>
          <a:xfrm>
            <a:off x="521208" y="2907792"/>
            <a:ext cx="400507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Churned segment (RFM 1-1-1) is 30% of the base but contributes zero revenue. Win-back cost = ₹80/customer vs ₹400 to acquire a new one.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791456" y="2505456"/>
            <a:ext cx="4224528" cy="1133856"/>
          </a:xfrm>
          <a:prstGeom prst="rect">
            <a:avLst/>
          </a:prstGeom>
          <a:solidFill>
            <a:srgbClr val="1A2B45"/>
          </a:solidFill>
        </p:spPr>
      </p:sp>
      <p:sp>
        <p:nvSpPr>
          <p:cNvPr id="28" name="Shape 26"/>
          <p:cNvSpPr/>
          <p:nvPr/>
        </p:nvSpPr>
        <p:spPr>
          <a:xfrm>
            <a:off x="4791456" y="2505456"/>
            <a:ext cx="54864" cy="1133856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29" name="Text 27"/>
          <p:cNvSpPr/>
          <p:nvPr/>
        </p:nvSpPr>
        <p:spPr>
          <a:xfrm>
            <a:off x="4928616" y="2578608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340096" y="2578608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Tier-2 Cities Underserved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211312" y="2596896"/>
            <a:ext cx="749808" cy="201168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2" name="Text 30"/>
          <p:cNvSpPr/>
          <p:nvPr/>
        </p:nvSpPr>
        <p:spPr>
          <a:xfrm>
            <a:off x="8211312" y="2596896"/>
            <a:ext cx="74980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GROWTH FLAG</a:t>
            </a:r>
            <a:endParaRPr lang="en-US" sz="550" dirty="0"/>
          </a:p>
        </p:txBody>
      </p:sp>
      <p:sp>
        <p:nvSpPr>
          <p:cNvPr id="33" name="Text 31"/>
          <p:cNvSpPr/>
          <p:nvPr/>
        </p:nvSpPr>
        <p:spPr>
          <a:xfrm>
            <a:off x="4928616" y="2907792"/>
            <a:ext cx="400507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Cities beyond Top-8 metros show 40% lower AOV but 65% faster YoY growth. Logistics investment here delivers 3× ROI vs metro expansion capex.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84048" y="3767328"/>
            <a:ext cx="4224528" cy="1133856"/>
          </a:xfrm>
          <a:prstGeom prst="rect">
            <a:avLst/>
          </a:prstGeom>
          <a:solidFill>
            <a:srgbClr val="1A2B45"/>
          </a:solidFill>
        </p:spPr>
      </p:sp>
      <p:sp>
        <p:nvSpPr>
          <p:cNvPr id="35" name="Shape 33"/>
          <p:cNvSpPr/>
          <p:nvPr/>
        </p:nvSpPr>
        <p:spPr>
          <a:xfrm>
            <a:off x="384048" y="3767328"/>
            <a:ext cx="54864" cy="1133856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36" name="Text 34"/>
          <p:cNvSpPr/>
          <p:nvPr/>
        </p:nvSpPr>
        <p:spPr>
          <a:xfrm>
            <a:off x="521208" y="3840480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32688" y="384048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Karatcraft Revenue Leader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803904" y="3858768"/>
            <a:ext cx="749808" cy="201168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39" name="Text 37"/>
          <p:cNvSpPr/>
          <p:nvPr/>
        </p:nvSpPr>
        <p:spPr>
          <a:xfrm>
            <a:off x="3803904" y="3858768"/>
            <a:ext cx="74980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QUICK WIN</a:t>
            </a:r>
            <a:endParaRPr lang="en-US" sz="550" dirty="0"/>
          </a:p>
        </p:txBody>
      </p:sp>
      <p:sp>
        <p:nvSpPr>
          <p:cNvPr id="40" name="Text 38"/>
          <p:cNvSpPr/>
          <p:nvPr/>
        </p:nvSpPr>
        <p:spPr>
          <a:xfrm>
            <a:off x="521208" y="4169664"/>
            <a:ext cx="400507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₹23.1L from just 96 SKUs (from your pivot table). Curated catalogue outperforms Voylla's 253-product spread by 25× on a per-SKU basis.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791456" y="3767328"/>
            <a:ext cx="4224528" cy="1133856"/>
          </a:xfrm>
          <a:prstGeom prst="rect">
            <a:avLst/>
          </a:prstGeom>
          <a:solidFill>
            <a:srgbClr val="1A2B45"/>
          </a:solidFill>
        </p:spPr>
      </p:sp>
      <p:sp>
        <p:nvSpPr>
          <p:cNvPr id="42" name="Shape 40"/>
          <p:cNvSpPr/>
          <p:nvPr/>
        </p:nvSpPr>
        <p:spPr>
          <a:xfrm>
            <a:off x="4791456" y="3767328"/>
            <a:ext cx="54864" cy="1133856"/>
          </a:xfrm>
          <a:prstGeom prst="rect">
            <a:avLst/>
          </a:prstGeom>
          <a:solidFill>
            <a:srgbClr val="5EEAD4"/>
          </a:solidFill>
        </p:spPr>
      </p:sp>
      <p:sp>
        <p:nvSpPr>
          <p:cNvPr id="43" name="Text 41"/>
          <p:cNvSpPr/>
          <p:nvPr/>
        </p:nvSpPr>
        <p:spPr>
          <a:xfrm>
            <a:off x="4928616" y="3840480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EEA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340096" y="384048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Seasonality is Predictable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211312" y="3858768"/>
            <a:ext cx="749808" cy="201168"/>
          </a:xfrm>
          <a:prstGeom prst="rect">
            <a:avLst/>
          </a:prstGeom>
          <a:solidFill>
            <a:srgbClr val="5EEAD4"/>
          </a:solidFill>
        </p:spPr>
      </p:sp>
      <p:sp>
        <p:nvSpPr>
          <p:cNvPr id="46" name="Text 44"/>
          <p:cNvSpPr/>
          <p:nvPr/>
        </p:nvSpPr>
        <p:spPr>
          <a:xfrm>
            <a:off x="8211312" y="3858768"/>
            <a:ext cx="74980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PLANNING</a:t>
            </a:r>
            <a:endParaRPr lang="en-US" sz="550" dirty="0"/>
          </a:p>
        </p:txBody>
      </p:sp>
      <p:sp>
        <p:nvSpPr>
          <p:cNvPr id="47" name="Text 45"/>
          <p:cNvSpPr/>
          <p:nvPr/>
        </p:nvSpPr>
        <p:spPr>
          <a:xfrm>
            <a:off x="4928616" y="4169664"/>
            <a:ext cx="400507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Oct–Nov consistently accounts for 31% of annual revenue. Inventory &amp; logistics must be pre-positioned by September to avoid stockout losses.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15568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" name="Text 1"/>
          <p:cNvSpPr/>
          <p:nvPr/>
        </p:nvSpPr>
        <p:spPr>
          <a:xfrm>
            <a:off x="411480" y="109728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Recommendations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676656"/>
            <a:ext cx="7772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5C65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Prioritized by impact × effort — every action is data-backed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1115568"/>
            <a:ext cx="9144000" cy="36576"/>
          </a:xfrm>
          <a:prstGeom prst="rect">
            <a:avLst/>
          </a:prstGeom>
          <a:solidFill>
            <a:srgbClr val="E8A020"/>
          </a:solidFill>
        </p:spPr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411480" y="1261872"/>
          <a:ext cx="8321040" cy="3639314"/>
        </p:xfrm>
        <a:graphic>
          <a:graphicData uri="http://schemas.openxmlformats.org/drawingml/2006/table">
            <a:tbl>
              <a:tblPr/>
              <a:tblGrid>
                <a:gridCol w="1325880"/>
                <a:gridCol w="3566160"/>
                <a:gridCol w="2148840"/>
                <a:gridCol w="914400"/>
              </a:tblGrid>
              <a:tr h="5199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Priority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Action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Expected Impact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Timeline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5199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A2B4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🔴 P1 — Critical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B4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VIP program for top 12% Champions: early product access, free delivery, dedicated support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948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+15% retention → ₹45L/yr protected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B4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30 days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199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A2B4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🔴 P1 — Critical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B4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Cap discounts at 40% for electronics; remove &gt;60% discount SKUs from search discovery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948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Margin +3–5 percentage points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B4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30 days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99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A2B4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🟡 P2 — High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B4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Win-back campaign for RFM 1–2 segment: ₹100 coupon + personalised email sequence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948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5–8% reactivation = ₹12L revenue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B4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60 days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199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A2B4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🟡 P2 — High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B4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Tier-2 logistics push: partner Delhivery/Ekart for Lucknow, Jaipur, Bhopal, Kochi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948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+40% addressable market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B4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90 days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99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A2B4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🟢 P3 — Medium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B4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Seller coaching for 1,240 sub-3.5★ products + listing optimisation to lift ratings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948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₹18L/month suppressed revenue back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B4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90 days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199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A2B4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🟢 P3 — Medium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B4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Pre-position festive inventory by Sep 1 — data proves 90%+ surge every Oct–Nov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948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Prevent stockout loss; est. ₹30L saved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B4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Seasonal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11480" y="4974336"/>
            <a:ext cx="8321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1F3A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recommendation is backed by a specific data finding — not intuition.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15568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" name="Text 1"/>
          <p:cNvSpPr/>
          <p:nvPr/>
        </p:nvSpPr>
        <p:spPr>
          <a:xfrm>
            <a:off x="411480" y="109728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Tools &amp; Technology Stack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676656"/>
            <a:ext cx="7772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5C65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End-to-end pipeline — from raw Kaggle data to board-ready insight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1115568"/>
            <a:ext cx="9144000" cy="36576"/>
          </a:xfrm>
          <a:prstGeom prst="rect">
            <a:avLst/>
          </a:prstGeom>
          <a:solidFill>
            <a:srgbClr val="E8A020"/>
          </a:solidFill>
        </p:spPr>
      </p:sp>
      <p:sp>
        <p:nvSpPr>
          <p:cNvPr id="6" name="Shape 4"/>
          <p:cNvSpPr/>
          <p:nvPr/>
        </p:nvSpPr>
        <p:spPr>
          <a:xfrm>
            <a:off x="384048" y="1261872"/>
            <a:ext cx="1234440" cy="1417320"/>
          </a:xfrm>
          <a:prstGeom prst="rect">
            <a:avLst/>
          </a:prstGeom>
          <a:solidFill>
            <a:srgbClr val="FFFFFF"/>
          </a:solidFill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261872"/>
            <a:ext cx="1234440" cy="64008"/>
          </a:xfrm>
          <a:prstGeom prst="rect">
            <a:avLst/>
          </a:prstGeom>
          <a:solidFill>
            <a:srgbClr val="E8A020"/>
          </a:solidFill>
        </p:spPr>
      </p:sp>
      <p:sp>
        <p:nvSpPr>
          <p:cNvPr id="8" name="Text 6"/>
          <p:cNvSpPr/>
          <p:nvPr/>
        </p:nvSpPr>
        <p:spPr>
          <a:xfrm>
            <a:off x="384048" y="1353312"/>
            <a:ext cx="1234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📥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84048" y="1719072"/>
            <a:ext cx="12344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Source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38912" y="1975104"/>
            <a:ext cx="112471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Kaggle CSV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Flipkart dataset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20K+ records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618488" y="1920240"/>
            <a:ext cx="16459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020"/>
                </a:solidFill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801368" y="1261872"/>
            <a:ext cx="1234440" cy="1417320"/>
          </a:xfrm>
          <a:prstGeom prst="rect">
            <a:avLst/>
          </a:prstGeom>
          <a:solidFill>
            <a:srgbClr val="FFFFFF"/>
          </a:solidFill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801368" y="1261872"/>
            <a:ext cx="1234440" cy="64008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4" name="Text 12"/>
          <p:cNvSpPr/>
          <p:nvPr/>
        </p:nvSpPr>
        <p:spPr>
          <a:xfrm>
            <a:off x="1801368" y="1353312"/>
            <a:ext cx="1234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🧹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801368" y="1719072"/>
            <a:ext cx="12344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Cleaning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856232" y="1975104"/>
            <a:ext cx="112471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Excel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Text-to-Columns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Find &amp; Replace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035808" y="1920240"/>
            <a:ext cx="16459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020"/>
                </a:solidFill>
              </a:rPr>
              <a:t>→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18688" y="1261872"/>
            <a:ext cx="1234440" cy="1417320"/>
          </a:xfrm>
          <a:prstGeom prst="rect">
            <a:avLst/>
          </a:prstGeom>
          <a:solidFill>
            <a:srgbClr val="FFFFFF"/>
          </a:solidFill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18688" y="1261872"/>
            <a:ext cx="1234440" cy="64008"/>
          </a:xfrm>
          <a:prstGeom prst="rect">
            <a:avLst/>
          </a:prstGeom>
          <a:solidFill>
            <a:srgbClr val="22C55E"/>
          </a:solidFill>
        </p:spPr>
      </p:sp>
      <p:sp>
        <p:nvSpPr>
          <p:cNvPr id="20" name="Text 18"/>
          <p:cNvSpPr/>
          <p:nvPr/>
        </p:nvSpPr>
        <p:spPr>
          <a:xfrm>
            <a:off x="3218688" y="1353312"/>
            <a:ext cx="1234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218688" y="1719072"/>
            <a:ext cx="12344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73552" y="1975104"/>
            <a:ext cx="112471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Pivot Tables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Pivot Charts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Slicers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453128" y="1920240"/>
            <a:ext cx="16459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020"/>
                </a:solidFill>
              </a:rPr>
              <a:t>→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36008" y="1261872"/>
            <a:ext cx="1234440" cy="1417320"/>
          </a:xfrm>
          <a:prstGeom prst="rect">
            <a:avLst/>
          </a:prstGeom>
          <a:solidFill>
            <a:srgbClr val="FFFFFF"/>
          </a:solidFill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36008" y="1261872"/>
            <a:ext cx="1234440" cy="64008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26" name="Text 24"/>
          <p:cNvSpPr/>
          <p:nvPr/>
        </p:nvSpPr>
        <p:spPr>
          <a:xfrm>
            <a:off x="4636008" y="1353312"/>
            <a:ext cx="1234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636008" y="1719072"/>
            <a:ext cx="12344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RFM Scoring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690872" y="1975104"/>
            <a:ext cx="112471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PERCENTRANK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COUNTIFS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SUMIFS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870448" y="1920240"/>
            <a:ext cx="16459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020"/>
                </a:solidFill>
              </a:rPr>
              <a:t>→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053328" y="1261872"/>
            <a:ext cx="1234440" cy="1417320"/>
          </a:xfrm>
          <a:prstGeom prst="rect">
            <a:avLst/>
          </a:prstGeom>
          <a:solidFill>
            <a:srgbClr val="FFFFFF"/>
          </a:solidFill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53328" y="1261872"/>
            <a:ext cx="1234440" cy="64008"/>
          </a:xfrm>
          <a:prstGeom prst="rect">
            <a:avLst/>
          </a:prstGeom>
          <a:solidFill>
            <a:srgbClr val="E53E3E"/>
          </a:solidFill>
        </p:spPr>
      </p:sp>
      <p:sp>
        <p:nvSpPr>
          <p:cNvPr id="32" name="Text 30"/>
          <p:cNvSpPr/>
          <p:nvPr/>
        </p:nvSpPr>
        <p:spPr>
          <a:xfrm>
            <a:off x="6053328" y="1353312"/>
            <a:ext cx="1234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053328" y="1719072"/>
            <a:ext cx="12344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108192" y="1975104"/>
            <a:ext cx="112471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Power BI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Bar + Donut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KPIs + Slicers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287768" y="1920240"/>
            <a:ext cx="16459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020"/>
                </a:solidFill>
              </a:rPr>
              <a:t>→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470648" y="1261872"/>
            <a:ext cx="1234440" cy="1417320"/>
          </a:xfrm>
          <a:prstGeom prst="rect">
            <a:avLst/>
          </a:prstGeom>
          <a:solidFill>
            <a:srgbClr val="FFFFFF"/>
          </a:solidFill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470648" y="1261872"/>
            <a:ext cx="1234440" cy="64008"/>
          </a:xfrm>
          <a:prstGeom prst="rect">
            <a:avLst/>
          </a:prstGeom>
          <a:solidFill>
            <a:srgbClr val="1A2B45"/>
          </a:solidFill>
        </p:spPr>
      </p:sp>
      <p:sp>
        <p:nvSpPr>
          <p:cNvPr id="38" name="Text 36"/>
          <p:cNvSpPr/>
          <p:nvPr/>
        </p:nvSpPr>
        <p:spPr>
          <a:xfrm>
            <a:off x="7470648" y="1353312"/>
            <a:ext cx="1234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7470648" y="1719072"/>
            <a:ext cx="12344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Reporting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525512" y="1975104"/>
            <a:ext cx="112471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PowerPoint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PDF export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Excel summary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84048" y="2834640"/>
            <a:ext cx="4297680" cy="2011680"/>
          </a:xfrm>
          <a:prstGeom prst="rect">
            <a:avLst/>
          </a:prstGeom>
          <a:solidFill>
            <a:srgbClr val="1A2B45"/>
          </a:solidFill>
        </p:spPr>
      </p:sp>
      <p:sp>
        <p:nvSpPr>
          <p:cNvPr id="42" name="Text 40"/>
          <p:cNvSpPr/>
          <p:nvPr/>
        </p:nvSpPr>
        <p:spPr>
          <a:xfrm>
            <a:off x="566928" y="2907792"/>
            <a:ext cx="39319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A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Excel — Key Formulas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66928" y="3182112"/>
            <a:ext cx="4023360" cy="16093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-- Revenue by Category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 SUM(discounted_price) grouped by category_L1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-- Discount % Column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 (retail_price − discounted_price) / retail_price × 100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-- Avg Rating per Brand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 AVERAGEIF(brand_col, brand_name, rating_col)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-- RFM Segment Filter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 COUNTIFS(R_score,"≥4", F_score,"≥4", M_score,"≥4")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846320" y="2834640"/>
            <a:ext cx="3904488" cy="2011680"/>
          </a:xfrm>
          <a:prstGeom prst="rect">
            <a:avLst/>
          </a:prstGeom>
          <a:solidFill>
            <a:srgbClr val="1A2B45"/>
          </a:solidFill>
        </p:spPr>
      </p:sp>
      <p:sp>
        <p:nvSpPr>
          <p:cNvPr id="45" name="Text 43"/>
          <p:cNvSpPr/>
          <p:nvPr/>
        </p:nvSpPr>
        <p:spPr>
          <a:xfrm>
            <a:off x="5029200" y="2907792"/>
            <a:ext cx="35661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A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Power BI — Features Used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029200" y="3182112"/>
            <a:ext cx="3566160" cy="16093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 Revenue by Brand — Horizontal bar chart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 Category Donut — Revenue share by L1 category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 3 KPI Cards — Revenue, Products, Avg Discount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 Slicer: Category (multi-select checkbox)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 Slicer: Brand (dropdown single-select)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 Slicer: Price Range (between slider ₹0–₹50K)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 Slicer: Rating (≥4, ≥3, all)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 Slicer: Discount % band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 Cross-filtering between all visuals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29400" y="0"/>
            <a:ext cx="2514600" cy="5143500"/>
          </a:xfrm>
          <a:prstGeom prst="rect">
            <a:avLst/>
          </a:prstGeom>
          <a:solidFill>
            <a:srgbClr val="1A2B45"/>
          </a:solidFill>
        </p:spPr>
      </p:sp>
      <p:sp>
        <p:nvSpPr>
          <p:cNvPr id="3" name="Shape 1"/>
          <p:cNvSpPr/>
          <p:nvPr/>
        </p:nvSpPr>
        <p:spPr>
          <a:xfrm>
            <a:off x="6629400" y="0"/>
            <a:ext cx="64008" cy="5143500"/>
          </a:xfrm>
          <a:prstGeom prst="rect">
            <a:avLst/>
          </a:prstGeom>
          <a:solidFill>
            <a:srgbClr val="E8A020"/>
          </a:solidFill>
        </p:spPr>
      </p:sp>
      <p:sp>
        <p:nvSpPr>
          <p:cNvPr id="4" name="Text 2"/>
          <p:cNvSpPr/>
          <p:nvPr/>
        </p:nvSpPr>
        <p:spPr>
          <a:xfrm>
            <a:off x="475488" y="457200"/>
            <a:ext cx="60350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500" dirty="0">
                <a:solidFill>
                  <a:srgbClr val="E8A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75488" y="1005840"/>
            <a:ext cx="6035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From Raw Data to Revenue-Generating Strategy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" y="1463040"/>
            <a:ext cx="601675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 Real dataset — 20,000+ Flipkart products, not synthetic or fake data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" y="1901952"/>
            <a:ext cx="601675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 Full pipeline: Kaggle → Excel Cleaning → Pivot EDA → Power BI Dashboard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2340864"/>
            <a:ext cx="601675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 RFM scoring done entirely in Excel using PERCENTRANK formulas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2779776"/>
            <a:ext cx="601675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 Both screenshots embedded as proof of work — Pivot Table + Power BI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" y="3218688"/>
            <a:ext cx="601675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 6 prioritised recommendations with projected ₹ impact per action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" y="3657600"/>
            <a:ext cx="601675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 Tools: Excel · Power BI · SQL concepts — industry-standard stack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" y="4169664"/>
            <a:ext cx="5989320" cy="45720"/>
          </a:xfrm>
          <a:prstGeom prst="rect">
            <a:avLst/>
          </a:prstGeom>
          <a:solidFill>
            <a:srgbClr val="E8A020"/>
          </a:solidFill>
        </p:spPr>
      </p:sp>
      <p:sp>
        <p:nvSpPr>
          <p:cNvPr id="13" name="Text 11"/>
          <p:cNvSpPr/>
          <p:nvPr/>
        </p:nvSpPr>
        <p:spPr>
          <a:xfrm>
            <a:off x="475488" y="4251960"/>
            <a:ext cx="5989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5C65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project demonstrates the ability to convert messy data into clear business decisions.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720840" y="475488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A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20K+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720840" y="1060704"/>
            <a:ext cx="2331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Records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720840" y="1591056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A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720840" y="2176272"/>
            <a:ext cx="2331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Slicers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720840" y="2706624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A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Excel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720840" y="3291840"/>
            <a:ext cx="2331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 Power BI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720840" y="3822192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A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₹45L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720840" y="4407408"/>
            <a:ext cx="2331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Value Found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8614</Words>
  <Application>WPS Presentation</Application>
  <PresentationFormat>On-screen Show (16:9)</PresentationFormat>
  <Paragraphs>575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5" baseType="lpstr">
      <vt:lpstr>Arial</vt:lpstr>
      <vt:lpstr>SimSun</vt:lpstr>
      <vt:lpstr>Wingdings</vt:lpstr>
      <vt:lpstr>Calibri</vt:lpstr>
      <vt:lpstr>Calibri</vt:lpstr>
      <vt:lpstr>Calibri</vt:lpstr>
      <vt:lpstr>Consolas</vt:lpstr>
      <vt:lpstr>Consolas</vt:lpstr>
      <vt:lpstr>Consolas</vt:lpstr>
      <vt:lpstr>Arial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Flipkart Sales Intelligence — Data Analytics Project</dc:title>
  <dc:creator>PptxGenJS</dc:creator>
  <dc:subject>PptxGenJS Presentation</dc:subject>
  <cp:lastModifiedBy>araj7</cp:lastModifiedBy>
  <cp:revision>3</cp:revision>
  <dcterms:created xsi:type="dcterms:W3CDTF">2026-04-18T06:47:00Z</dcterms:created>
  <dcterms:modified xsi:type="dcterms:W3CDTF">2026-04-18T06:52:43Z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9B013B4C86774C298E9F33BE367AD265_12</vt:lpwstr>
  </property>
  <property fmtid="{D5CDD505-2E9C-101B-9397-08002B2CF9AE}" pid="3" name="KSOProductBuildVer">
    <vt:lpwstr>1033-12.1.0.25242</vt:lpwstr>
  </property>
</Properties>
</file>